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Entries in last 15 minutes</c:v>
                </c:pt>
              </c:strCache>
            </c:strRef>
          </c:tx>
          <c:dPt>
            <c:idx val="0"/>
            <c:spPr>
              <a:solidFill>
                <a:srgbClr val="165D43"/>
              </a:solidFill>
              <a:ln>
                <a:noFill/>
              </a:ln>
            </c:spPr>
          </c:dPt>
          <c:dPt>
            <c:idx val="1"/>
            <c:spPr>
              <a:solidFill>
                <a:srgbClr val="165D43"/>
              </a:solidFill>
              <a:ln>
                <a:noFill/>
              </a:ln>
            </c:spPr>
          </c:dPt>
          <c:dPt>
            <c:idx val="2"/>
            <c:spPr>
              <a:solidFill>
                <a:srgbClr val="C9A227"/>
              </a:solidFill>
              <a:ln>
                <a:noFill/>
              </a:ln>
            </c:spPr>
          </c:dPt>
          <c:dPt>
            <c:idx val="3"/>
            <c:spPr>
              <a:solidFill>
                <a:srgbClr val="165D43"/>
              </a:solidFill>
              <a:ln>
                <a:noFill/>
              </a:ln>
            </c:spPr>
          </c:dPt>
          <c:dPt>
            <c:idx val="4"/>
            <c:spPr>
              <a:solidFill>
                <a:srgbClr val="165D43"/>
              </a:solidFill>
              <a:ln>
                <a:noFill/>
              </a:ln>
            </c:spPr>
          </c:dPt>
          <c:dPt>
            <c:idx val="5"/>
            <c:spPr>
              <a:solidFill>
                <a:srgbClr val="165D43"/>
              </a:solidFill>
              <a:ln>
                <a:noFill/>
              </a:ln>
            </c:spPr>
          </c:dPt>
          <c:dPt>
            <c:idx val="6"/>
            <c:spPr>
              <a:solidFill>
                <a:srgbClr val="165D43"/>
              </a:solidFill>
              <a:ln>
                <a:noFill/>
              </a:ln>
            </c:spPr>
          </c:dPt>
          <c:cat>
            <c:strRef>
              <c:f>Sheet1!$A$2:$A$8</c:f>
              <c:strCache>
                <c:ptCount val="7"/>
                <c:pt idx="0">
                  <c:v>Gate 1</c:v>
                </c:pt>
                <c:pt idx="1">
                  <c:v>Gate 2</c:v>
                </c:pt>
                <c:pt idx="2">
                  <c:v>Gate 3</c:v>
                </c:pt>
                <c:pt idx="3">
                  <c:v>Gate 4</c:v>
                </c:pt>
                <c:pt idx="4">
                  <c:v>Gate 5</c:v>
                </c:pt>
                <c:pt idx="5">
                  <c:v>Gate 6</c:v>
                </c:pt>
                <c:pt idx="6">
                  <c:v>Gate 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320</c:v>
                </c:pt>
                <c:pt idx="1">
                  <c:v>285</c:v>
                </c:pt>
                <c:pt idx="2">
                  <c:v>412</c:v>
                </c:pt>
                <c:pt idx="3">
                  <c:v>198</c:v>
                </c:pt>
                <c:pt idx="4">
                  <c:v>240</c:v>
                </c:pt>
                <c:pt idx="5">
                  <c:v>176</c:v>
                </c:pt>
                <c:pt idx="6">
                  <c:v>265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stress that ID generation is ours, printing is the vendor's. That single split answers the VC's likely first question: who controls the data? We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every number here is live in the real system. The VC can watch his campus fill up from his office, gate by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points: 1) A photographed QR reveals nothing, the code is meaningless without our database. 2) Screenshot sharing is caught by cross-gate duplicate detection. 3) No gate ever stops for a dead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this split is the whole answer to 'how do 5,000 cards find the right students'. The name on the card does the sorting; the QR does the 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point: the pilot costs less than a single event's security overtime, and every figure here is labeled an estimate until we collect real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slogan. He said students are his power; this is the moment to hand them the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31000"/>
            <a:ext cx="12191695" cy="127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45720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8D58A"/>
                </a:solidFill>
                <a:latin typeface="Calibri"/>
              </a:rPr>
              <a:t>LAHORE GARRISON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Smart Convocation System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D58A"/>
                </a:solidFill>
                <a:latin typeface="Calibri"/>
              </a:rPr>
              <a:t>Live campus visibility. Secure entry. Instant communication.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9104" y="3310128"/>
            <a:ext cx="9144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10698480" cy="1463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E8D58A"/>
                </a:solidFill>
                <a:latin typeface="Calibri"/>
              </a:rPr>
              <a:t>PRESENTED TO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Major General Muhammad Khalil Dar, HI(M) (Retd)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E8D58A"/>
                </a:solidFill>
                <a:latin typeface="Calibri"/>
              </a:rPr>
              <a:t>Vice Chancellor, Lahore Garrison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1">
                <a:solidFill>
                  <a:srgbClr val="FFFFFF"/>
                </a:solidFill>
                <a:latin typeface="Calibri"/>
              </a:rPr>
              <a:t>Presented in the spirit of the Vice Chancellor's slogan:  "Students Are My Power"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D58A"/>
                </a:solidFill>
                <a:latin typeface="Calibri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2B20"/>
                </a:solidFill>
                <a:latin typeface="Calibri"/>
              </a:rPr>
              <a:t>Running Big Events Blind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219456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777240" y="2112264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At orientation and convocation, nobody knows exactly how many people are inside the campus.</a:t>
            </a:r>
          </a:p>
        </p:txBody>
      </p:sp>
      <p:sp>
        <p:nvSpPr>
          <p:cNvPr id="7" name="Rectangle 6"/>
          <p:cNvSpPr/>
          <p:nvPr/>
        </p:nvSpPr>
        <p:spPr>
          <a:xfrm rot="2700000">
            <a:off x="777240" y="3044952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898648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Gates overcrowd with no early warning for the security teams.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777240" y="3977639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831335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Extra guests enter unchecked, uncounted, and unaccountable.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777240" y="4910328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764024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Leadership watches the biggest events of the year effectively blind.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The cost is disorder at the gate, risk to students, and embarrassment at flagship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960120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LGU Smart Convocation System   |   Proposal to the Vice Chancellor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D58A"/>
                </a:solidFill>
                <a:latin typeface="Calibri"/>
              </a:rPr>
              <a:t>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2377440"/>
          </a:xfrm>
          <a:prstGeom prst="rect">
            <a:avLst/>
          </a:prstGeom>
          <a:noFill/>
        </p:spPr>
        <p:txBody>
          <a:bodyPr wrap="square" anchor="ctr" lIns="18288" rIns="18288" tIns="9144" bIns="914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One scan at the gate.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4600" b="1" i="0">
                <a:solidFill>
                  <a:srgbClr val="E8D58A"/>
                </a:solidFill>
                <a:latin typeface="Calibri"/>
              </a:rPr>
              <a:t>The whole campus visible, live.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Every entry counted. Every gate watched. Every alert delivered.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19088"/>
            <a:ext cx="960120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LGU Smart Convocation System   |   Proposal to the Vice Chancellor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2B20"/>
                </a:solidFill>
                <a:latin typeface="Calibri"/>
              </a:rPr>
              <a:t>Five Steps, One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219456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874519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9A227"/>
                </a:solidFill>
                <a:latin typeface="Calibri"/>
              </a:rPr>
              <a:t>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72B20"/>
                </a:solidFill>
                <a:latin typeface="Calibri"/>
              </a:rPr>
              <a:t>IDs Generated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Our system creates a unique signed ID for every student in one click.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331720"/>
            <a:ext cx="1874519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9A227"/>
                </a:solidFill>
                <a:latin typeface="Calibri"/>
              </a:rPr>
              <a:t>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72B20"/>
                </a:solidFill>
                <a:latin typeface="Calibri"/>
              </a:rPr>
              <a:t>Cards Printed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The vendor prints name, roll number, and QR on each card.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331720"/>
            <a:ext cx="1874519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9A227"/>
                </a:solidFill>
                <a:latin typeface="Calibri"/>
              </a:rPr>
              <a:t>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72B20"/>
                </a:solidFill>
                <a:latin typeface="Calibri"/>
              </a:rPr>
              <a:t>Scan at Gate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Volunteers scan cards. Each entry is recorded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2331720"/>
            <a:ext cx="1874519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9A227"/>
                </a:solidFill>
                <a:latin typeface="Calibri"/>
              </a:rPr>
              <a:t>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72B20"/>
                </a:solidFill>
                <a:latin typeface="Calibri"/>
              </a:rPr>
              <a:t>Live Sync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Scans reach the central database within seconds, queued offline where signal is weak.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2331720"/>
            <a:ext cx="1874519" cy="2514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9A227"/>
                </a:solidFill>
                <a:latin typeface="Calibri"/>
              </a:rPr>
              <a:t>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72B20"/>
                </a:solidFill>
                <a:latin typeface="Calibri"/>
              </a:rPr>
              <a:t>Command View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280"/>
                </a:solidFill>
                <a:latin typeface="Calibri"/>
              </a:rPr>
              <a:t>The dashboard lights up live, and alerts go out to all students.</a:t>
            </a:r>
          </a:p>
        </p:txBody>
      </p:sp>
      <p:sp>
        <p:nvSpPr>
          <p:cNvPr id="10" name="Chevron 9"/>
          <p:cNvSpPr/>
          <p:nvPr/>
        </p:nvSpPr>
        <p:spPr>
          <a:xfrm>
            <a:off x="2395728" y="3401568"/>
            <a:ext cx="274320" cy="502920"/>
          </a:xfrm>
          <a:prstGeom prst="chevron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590288" y="3401568"/>
            <a:ext cx="274320" cy="502920"/>
          </a:xfrm>
          <a:prstGeom prst="chevron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6784848" y="3401568"/>
            <a:ext cx="274320" cy="502920"/>
          </a:xfrm>
          <a:prstGeom prst="chevron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8979408" y="3401568"/>
            <a:ext cx="274320" cy="502920"/>
          </a:xfrm>
          <a:prstGeom prst="chevron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B7280"/>
                </a:solidFill>
                <a:latin typeface="Calibri"/>
              </a:rPr>
              <a:t>The vendor never invents IDs and never sees gender data. Our system owns the codes; the vendor only prints.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19088"/>
            <a:ext cx="960120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LGU Smart Convocation System   |   Proposal to the Vice Chancellor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2B20"/>
                </a:solidFill>
                <a:latin typeface="Calibri"/>
              </a:rPr>
              <a:t>Six Parts, One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219456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29000" cy="1783080"/>
          </a:xfrm>
          <a:prstGeom prst="roundRect">
            <a:avLst>
              <a:gd name="adj" fmla="val 10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01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72B20"/>
                </a:solidFill>
                <a:latin typeface="Calibri"/>
              </a:rPr>
              <a:t>Student Portal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Card records and guest pre-registration in one place.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783080"/>
            <a:ext cx="3429000" cy="1783080"/>
          </a:xfrm>
          <a:prstGeom prst="roundRect">
            <a:avLst>
              <a:gd name="adj" fmla="val 10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72B20"/>
                </a:solidFill>
                <a:latin typeface="Calibri"/>
              </a:rPr>
              <a:t>Secure QR Codes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Opaque signed IDs. Tamper-proof and verifiable.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783080"/>
            <a:ext cx="3429000" cy="1783080"/>
          </a:xfrm>
          <a:prstGeom prst="roundRect">
            <a:avLst>
              <a:gd name="adj" fmla="val 10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03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72B20"/>
                </a:solidFill>
                <a:latin typeface="Calibri"/>
              </a:rPr>
              <a:t>Scanner App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Android app for volunteers. Entry and exit modes, offline-first.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3429000" cy="1783080"/>
          </a:xfrm>
          <a:prstGeom prst="roundRect">
            <a:avLst>
              <a:gd name="adj" fmla="val 10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04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72B20"/>
                </a:solidFill>
                <a:latin typeface="Calibri"/>
              </a:rPr>
              <a:t>Central Backend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Live database with cross-gate duplicate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3749039"/>
            <a:ext cx="3429000" cy="1783080"/>
          </a:xfrm>
          <a:prstGeom prst="roundRect">
            <a:avLst>
              <a:gd name="adj" fmla="val 10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05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72B20"/>
                </a:solidFill>
                <a:latin typeface="Calibri"/>
              </a:rPr>
              <a:t>Live Dashboard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Role-based views for the VC, deans, HODs, and registrar.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749039"/>
            <a:ext cx="3429000" cy="1783080"/>
          </a:xfrm>
          <a:prstGeom prst="roundRect">
            <a:avLst>
              <a:gd name="adj" fmla="val 10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06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72B20"/>
                </a:solidFill>
                <a:latin typeface="Calibri"/>
              </a:rPr>
              <a:t>Broadcast Module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SMS and push alerts to students, campus-wide or targeted.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19088"/>
            <a:ext cx="960120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LGU Smart Convocation System   |   Proposal to the Vice Chancellor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COMMAND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2B20"/>
                </a:solidFill>
                <a:latin typeface="Calibri"/>
              </a:rPr>
              <a:t>The Live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219456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2606040" cy="1115568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4,832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D58A"/>
                </a:solidFill>
                <a:latin typeface="Calibri"/>
              </a:rPr>
              <a:t>STUDENTS INSIDE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72768"/>
            <a:ext cx="2606040" cy="1115568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2,610  /  2,222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D58A"/>
                </a:solidFill>
                <a:latin typeface="Calibri"/>
              </a:rPr>
              <a:t>MALE  /  FEMALE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72768"/>
            <a:ext cx="2606040" cy="1115568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1,140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D58A"/>
                </a:solidFill>
                <a:latin typeface="Calibri"/>
              </a:rPr>
              <a:t>GUESTS INSIDE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39" y="1572768"/>
            <a:ext cx="2606040" cy="1115568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Gate 3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D58A"/>
                </a:solidFill>
                <a:latin typeface="Calibri"/>
              </a:rPr>
              <a:t>BUSIEST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280"/>
                </a:solidFill>
                <a:latin typeface="Calibri"/>
              </a:rPr>
              <a:t>LIVE FEED SAMPLE:   12:04:33  ·  Gate 2  ·  Entry recorded      12:04:29  ·  Gate 5  ·  Guest entry      12:04:21  ·  Gate 3  ·  Duplicate blocked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3310128"/>
          <a:ext cx="10908792" cy="23957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833872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B7280"/>
                </a:solidFill>
                <a:latin typeface="Calibri"/>
              </a:rPr>
              <a:t>Illustrative mockup with sample values, not real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960120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LGU Smart Convocation System   |   Proposal to the Vice Chancellor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GUEST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2B20"/>
                </a:solidFill>
                <a:latin typeface="Calibri"/>
              </a:rPr>
              <a:t>One Free Guest, Zero Duplication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219456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777240" y="2112264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Every student is entitled to one free guest for major events.</a:t>
            </a:r>
          </a:p>
        </p:txBody>
      </p:sp>
      <p:sp>
        <p:nvSpPr>
          <p:cNvPr id="7" name="Rectangle 6"/>
          <p:cNvSpPr/>
          <p:nvPr/>
        </p:nvSpPr>
        <p:spPr>
          <a:xfrm rot="2700000">
            <a:off x="777240" y="3044952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898648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Guests pre-register through the portal; the exam department generates the QR batch.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777240" y="3977639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831335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Each guest QR is single-use and cryptographically signed.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777240" y="4910328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764024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A used or copied code is rejected instantly, at every gate.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623560"/>
            <a:ext cx="10908792" cy="566928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No duplicated passes.    No unknown visitors.    Full accountability.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19088"/>
            <a:ext cx="960120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LGU Smart Convocation System   |   Proposal to the Vice Chancellor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2B20"/>
                </a:solidFill>
                <a:latin typeface="Calibri"/>
              </a:rPr>
              <a:t>Security and Privacy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219456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777240" y="2112264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The QR holds only an opaque signed ID. No name, roll number, or gender in the code.</a:t>
            </a:r>
          </a:p>
        </p:txBody>
      </p:sp>
      <p:sp>
        <p:nvSpPr>
          <p:cNvPr id="7" name="Rectangle 6"/>
          <p:cNvSpPr/>
          <p:nvPr/>
        </p:nvSpPr>
        <p:spPr>
          <a:xfrm rot="2700000">
            <a:off x="777240" y="3044952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898648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The backend flags the same ID scanned at two gates and raises an instant fraud alert.</a:t>
            </a:r>
          </a:p>
        </p:txBody>
      </p:sp>
      <p:sp>
        <p:nvSpPr>
          <p:cNvPr id="9" name="Rectangle 8"/>
          <p:cNvSpPr/>
          <p:nvPr/>
        </p:nvSpPr>
        <p:spPr>
          <a:xfrm rot="2700000">
            <a:off x="777240" y="3977639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831335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Scanning works offline. Records queue on the device and sync when signal returns.</a:t>
            </a:r>
          </a:p>
        </p:txBody>
      </p:sp>
      <p:sp>
        <p:nvSpPr>
          <p:cNvPr id="11" name="Rectangle 10"/>
          <p:cNvSpPr/>
          <p:nvPr/>
        </p:nvSpPr>
        <p:spPr>
          <a:xfrm rot="2700000">
            <a:off x="777240" y="4910328"/>
            <a:ext cx="139700" cy="1397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764024"/>
            <a:ext cx="10241280" cy="8229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Dashboard access is role-based. The VC, deans, HODs, and registrar each see their 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19088"/>
            <a:ext cx="960120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LGU Smart Convocation System   |   Proposal to the Vice Chancellor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2B20"/>
                </a:solidFill>
                <a:latin typeface="Calibri"/>
              </a:rPr>
              <a:t>Card Production and Vendor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219456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21808" cy="3063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OUR SYSTEM GENERATES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Unique signed IDs for every student, in one click.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print file per student: name, roll number, and QR image.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The guest QR batch from exam department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7064" y="1783080"/>
            <a:ext cx="5321808" cy="3063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THE VENDOR ONLY PRINTS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Renders the QR images from the files we supply.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Prints the cards and sorts them by student name.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Never receives gender data, and never needs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38928"/>
            <a:ext cx="10908792" cy="777240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Each student collects the right card by reading their own name. Humans match by name; machines match by QR.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60120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LGU Smart Convocation System   |   Proposal to the Vice Chancellor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2B20"/>
                </a:solidFill>
                <a:latin typeface="Calibri"/>
              </a:rPr>
              <a:t>Prove It at Orientation, Scale It at Convocation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219456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21808" cy="2697480"/>
          </a:xfrm>
          <a:prstGeom prst="roundRect">
            <a:avLst>
              <a:gd name="adj" fmla="val 10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72B20"/>
                </a:solidFill>
                <a:latin typeface="Calibri"/>
              </a:rPr>
              <a:t>PHASE 1: ORIENTATION PILOT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2 to 3 gates live.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One trained volunteer team per gate.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The full flow tested under real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7064" y="1783080"/>
            <a:ext cx="5321808" cy="2697480"/>
          </a:xfrm>
          <a:prstGeom prst="roundRect">
            <a:avLst>
              <a:gd name="adj" fmla="val 10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72B20"/>
                </a:solidFill>
                <a:latin typeface="Calibri"/>
              </a:rPr>
              <a:t>PHASE 2: CONVOCATION, FULL SCALE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All 7 gates live.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Guest pre-registration open to every graduating student.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Broadcast alerts running campus-wide.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00600"/>
            <a:ext cx="10908792" cy="868680"/>
          </a:xfrm>
          <a:prstGeom prst="roundRect">
            <a:avLst>
              <a:gd name="adj" fmla="val 10000"/>
            </a:avLst>
          </a:prstGeom>
          <a:solidFill>
            <a:srgbClr val="0B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SUCCESS CRITERIA:   Average scan under 3 seconds   ·   Zero duplicate guest entries   ·   Dashboard accurate within one minute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60120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LGU Smart Convocation System   |   Proposal to the Vice Chancellor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Calibri"/>
              </a:rPr>
              <a:t>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7315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2B20"/>
                </a:solidFill>
                <a:latin typeface="Calibri"/>
              </a:rPr>
              <a:t>Budget Sketch and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219456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BUDGET SKETCH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120640" cy="64008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72B20"/>
                </a:solidFill>
                <a:latin typeface="Calibri"/>
              </a:rPr>
              <a:t>PKR 150,000 - 250,000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pilot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120640" cy="5029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QR card printing (per card)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880360"/>
            <a:ext cx="1737360" cy="5029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2B20"/>
                </a:solidFill>
                <a:latin typeface="Calibri"/>
              </a:rPr>
              <a:t>PKR 30 - 50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10712"/>
            <a:ext cx="5120640" cy="5029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SMS gateway (per event)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410712"/>
            <a:ext cx="1737360" cy="5029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2B20"/>
                </a:solidFill>
                <a:latin typeface="Calibri"/>
              </a:rPr>
              <a:t>PKR 50,000 - 80,000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41063"/>
            <a:ext cx="5120640" cy="5029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Cloud hosting (one year)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3941063"/>
            <a:ext cx="1737360" cy="5029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2B20"/>
                </a:solidFill>
                <a:latin typeface="Calibri"/>
              </a:rPr>
              <a:t>PKR 60,000 - 100,000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71416"/>
            <a:ext cx="5120640" cy="5029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7"/>
                </a:solidFill>
                <a:latin typeface="Calibri"/>
              </a:rPr>
              <a:t>Power banks and accessories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71416"/>
            <a:ext cx="1737360" cy="50292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72B20"/>
                </a:solidFill>
                <a:latin typeface="Calibri"/>
              </a:rPr>
              <a:t>PKR 20,000 - 30,000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5120640" cy="45720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B7280"/>
                </a:solidFill>
                <a:latin typeface="Calibri"/>
              </a:rPr>
              <a:t>Rough planning estimates, not vendor quotations.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83080"/>
            <a:ext cx="25400" cy="3749039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691640"/>
            <a:ext cx="4937760" cy="36576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TIMELINE: 6 TO 8 WEEKS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2148840"/>
            <a:ext cx="4919472" cy="804672"/>
          </a:xfrm>
          <a:prstGeom prst="roundRect">
            <a:avLst>
              <a:gd name="adj" fmla="val 12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2B20"/>
                </a:solidFill>
                <a:latin typeface="Calibri"/>
              </a:rPr>
              <a:t>Weeks 1 - 2   </a:t>
            </a:r>
            <a:r>
              <a:rPr sz="1300" b="0">
                <a:solidFill>
                  <a:srgbClr val="1F2937"/>
                </a:solidFill>
                <a:latin typeface="Calibri"/>
              </a:rPr>
              <a:t>Backend, database, QR generation and signing.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063240"/>
            <a:ext cx="4919472" cy="804672"/>
          </a:xfrm>
          <a:prstGeom prst="roundRect">
            <a:avLst>
              <a:gd name="adj" fmla="val 12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2B20"/>
                </a:solidFill>
                <a:latin typeface="Calibri"/>
              </a:rPr>
              <a:t>Weeks 3 - 4   </a:t>
            </a:r>
            <a:r>
              <a:rPr sz="1300" b="0">
                <a:solidFill>
                  <a:srgbClr val="1F2937"/>
                </a:solidFill>
                <a:latin typeface="Calibri"/>
              </a:rPr>
              <a:t>Scanner app, student portal, guest registration.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977639"/>
            <a:ext cx="4919472" cy="804672"/>
          </a:xfrm>
          <a:prstGeom prst="roundRect">
            <a:avLst>
              <a:gd name="adj" fmla="val 12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2B20"/>
                </a:solidFill>
                <a:latin typeface="Calibri"/>
              </a:rPr>
              <a:t>Weeks 5 - 6   </a:t>
            </a:r>
            <a:r>
              <a:rPr sz="1300" b="0">
                <a:solidFill>
                  <a:srgbClr val="1F2937"/>
                </a:solidFill>
                <a:latin typeface="Calibri"/>
              </a:rPr>
              <a:t>Live dashboard, broadcast module, integration testing.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4892040"/>
            <a:ext cx="4919472" cy="804672"/>
          </a:xfrm>
          <a:prstGeom prst="roundRect">
            <a:avLst>
              <a:gd name="adj" fmla="val 12000"/>
            </a:avLst>
          </a:prstGeom>
          <a:solidFill>
            <a:srgbClr val="F7F5EE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72B20"/>
                </a:solidFill>
                <a:latin typeface="Calibri"/>
              </a:rPr>
              <a:t>Weeks 7 - 8   </a:t>
            </a:r>
            <a:r>
              <a:rPr sz="1300" b="0">
                <a:solidFill>
                  <a:srgbClr val="1F2937"/>
                </a:solidFill>
                <a:latin typeface="Calibri"/>
              </a:rPr>
              <a:t>Volunteer training, full dry run, orientation pilot.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19088"/>
            <a:ext cx="960120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LGU Smart Convocation System   |   Proposal to the Vice Chancellor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B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D58A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We request the Vice Chancellor's approval for three things.</a:t>
            </a:r>
          </a:p>
        </p:txBody>
      </p:sp>
      <p:sp>
        <p:nvSpPr>
          <p:cNvPr id="4" name="Oval 3"/>
          <p:cNvSpPr/>
          <p:nvPr/>
        </p:nvSpPr>
        <p:spPr>
          <a:xfrm>
            <a:off x="1051560" y="1892807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72B2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74519"/>
            <a:ext cx="9509760" cy="68580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Approve the orientation pilot on 2 to 3 gates.</a:t>
            </a:r>
          </a:p>
        </p:txBody>
      </p:sp>
      <p:sp>
        <p:nvSpPr>
          <p:cNvPr id="6" name="Oval 5"/>
          <p:cNvSpPr/>
          <p:nvPr/>
        </p:nvSpPr>
        <p:spPr>
          <a:xfrm>
            <a:off x="1051560" y="2761488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72B2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9509760" cy="68580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Grant access to the registrar's student roster (name, roll number, gender, program).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630168"/>
            <a:ext cx="475488" cy="47548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72B20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11880"/>
            <a:ext cx="9509760" cy="68580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Permit trained student volunteer teams with scanning devices at the gates during the pilot.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9104" y="4892040"/>
            <a:ext cx="9144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noFill/>
        </p:spPr>
        <p:txBody>
          <a:bodyPr wrap="square" anchor="t" lIns="18288" rIns="18288" tIns="9144" bIns="914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E8D58A"/>
                </a:solidFill>
                <a:latin typeface="Calibri"/>
              </a:rPr>
              <a:t>With your approval, we begin this week.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Approve the pilot, and let the students show you what your power can 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